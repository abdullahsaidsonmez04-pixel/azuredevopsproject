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3" r:id="rId20"/>
    <p:sldId id="274" r:id="rId21"/>
    <p:sldId id="275" r:id="rId22"/>
    <p:sldId id="276" r:id="rId23"/>
    <p:sldId id="277" r:id="rId24"/>
    <p:sldId id="279" r:id="rId25"/>
    <p:sldId id="26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884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756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6054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3347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412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368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092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728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489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968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7950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4410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1466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6378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0918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836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302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89DEFE9-A44E-4023-8C9B-45498D7FD5DA}" type="datetimeFigureOut">
              <a:rPr lang="tr-TR" smtClean="0"/>
              <a:t>6.01.2026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41D89-0423-4691-9FF0-5B6BF7C37FD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4503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7026C6-9731-736B-336A-B1740F5F0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54" y="-266341"/>
            <a:ext cx="10244565" cy="1485541"/>
          </a:xfrm>
        </p:spPr>
        <p:txBody>
          <a:bodyPr/>
          <a:lstStyle/>
          <a:p>
            <a:r>
              <a:rPr lang="tr-TR" sz="36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Mth</a:t>
            </a:r>
            <a:r>
              <a:rPr lang="tr-TR" sz="36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-Projesi Dokümantasyonu</a:t>
            </a:r>
          </a:p>
        </p:txBody>
      </p:sp>
      <p:sp>
        <p:nvSpPr>
          <p:cNvPr id="4" name="Alt Başlık 2">
            <a:extLst>
              <a:ext uri="{FF2B5EF4-FFF2-40B4-BE49-F238E27FC236}">
                <a16:creationId xmlns:a16="http://schemas.microsoft.com/office/drawing/2014/main" id="{1E77E0BD-C514-8909-BB64-AEE6E0B9DCE6}"/>
              </a:ext>
            </a:extLst>
          </p:cNvPr>
          <p:cNvSpPr txBox="1">
            <a:spLocks/>
          </p:cNvSpPr>
          <p:nvPr/>
        </p:nvSpPr>
        <p:spPr>
          <a:xfrm>
            <a:off x="3562875" y="1973220"/>
            <a:ext cx="5703045" cy="22939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r-TR" sz="2400" dirty="0"/>
              <a:t>    ERZURUM TEKNİK ÜNİVERSİTESİ</a:t>
            </a:r>
          </a:p>
          <a:p>
            <a:r>
              <a:rPr lang="tr-TR" sz="2400" dirty="0"/>
              <a:t>      BİLGİSAYAR MÜHENDİSLİĞİ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 </a:t>
            </a:r>
          </a:p>
          <a:p>
            <a:endParaRPr lang="tr-T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0385175-E80E-A705-BA20-81E35832F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824" y="3539553"/>
            <a:ext cx="5174192" cy="29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06EF3C6C-63A6-CB9E-E55D-24F7661BB2D3}"/>
              </a:ext>
            </a:extLst>
          </p:cNvPr>
          <p:cNvSpPr txBox="1"/>
          <p:nvPr/>
        </p:nvSpPr>
        <p:spPr>
          <a:xfrm>
            <a:off x="318397" y="386705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AD : Abdullah SAİD SÖNMEZ</a:t>
            </a:r>
          </a:p>
          <a:p>
            <a:endParaRPr lang="tr-TR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tr-TR" dirty="0">
                <a:solidFill>
                  <a:schemeClr val="bg2">
                    <a:lumMod val="40000"/>
                    <a:lumOff val="60000"/>
                  </a:schemeClr>
                </a:solidFill>
              </a:rPr>
              <a:t>ÖĞRENCİ NUMARASI : 230303054</a:t>
            </a:r>
          </a:p>
          <a:p>
            <a:endParaRPr lang="tr-TR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tr-TR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İletişim;</a:t>
            </a:r>
          </a:p>
          <a:p>
            <a:endParaRPr lang="tr-TR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tr-TR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TLF:05418493250</a:t>
            </a:r>
          </a:p>
          <a:p>
            <a:r>
              <a:rPr lang="tr-TR" dirty="0">
                <a:solidFill>
                  <a:schemeClr val="bg2">
                    <a:lumMod val="40000"/>
                    <a:lumOff val="60000"/>
                  </a:schemeClr>
                </a:solidFill>
              </a:rPr>
              <a:t>E-POSTA: Abdullah.said.sonmez97@erzurum.edu.tr</a:t>
            </a:r>
          </a:p>
        </p:txBody>
      </p:sp>
    </p:spTree>
    <p:extLst>
      <p:ext uri="{BB962C8B-B14F-4D97-AF65-F5344CB8AC3E}">
        <p14:creationId xmlns:p14="http://schemas.microsoft.com/office/powerpoint/2010/main" val="318571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86E8FE-7591-EBDE-5FA9-C339E2496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6642349"/>
          </a:xfrm>
        </p:spPr>
        <p:txBody>
          <a:bodyPr/>
          <a:lstStyle/>
          <a:p>
            <a:r>
              <a:rPr lang="tr-TR" dirty="0">
                <a:highlight>
                  <a:srgbClr val="FF0000"/>
                </a:highlight>
              </a:rPr>
              <a:t>LUTFEN OKUYUNUZ!!</a:t>
            </a:r>
            <a:br>
              <a:rPr lang="tr-TR" dirty="0"/>
            </a:br>
            <a:br>
              <a:rPr lang="tr-TR" dirty="0"/>
            </a:br>
            <a:r>
              <a:rPr lang="tr-TR" dirty="0">
                <a:highlight>
                  <a:srgbClr val="000080"/>
                </a:highlight>
              </a:rPr>
              <a:t>PROJEDE ISTENEN REPO LİNKİ VE EKRAN GORUNTULERI SLAYTIN SONUNA DOGRU MEVCUTTUR.</a:t>
            </a:r>
          </a:p>
        </p:txBody>
      </p:sp>
    </p:spTree>
    <p:extLst>
      <p:ext uri="{BB962C8B-B14F-4D97-AF65-F5344CB8AC3E}">
        <p14:creationId xmlns:p14="http://schemas.microsoft.com/office/powerpoint/2010/main" val="164579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F35B35-4B27-691A-EEB7-A7887E70D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2571222" cy="1122082"/>
          </a:xfrm>
        </p:spPr>
        <p:txBody>
          <a:bodyPr/>
          <a:lstStyle/>
          <a:p>
            <a:r>
              <a:rPr lang="tr-TR" sz="2800" dirty="0"/>
              <a:t>1)Amaç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D333A3-B0DF-A131-144A-E2C3A3FE1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2087282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Bu projenin amacı; modern yazılım geliştirme süreçlerinde kullanılan </a:t>
            </a:r>
          </a:p>
          <a:p>
            <a:pPr marL="0" indent="0">
              <a:buNone/>
            </a:pPr>
            <a:r>
              <a:rPr lang="tr-TR" dirty="0"/>
              <a:t>CI/CD yaklaşımını uçtan uca uygulamaktır. Proje kapsamında bir uygulamanın kaynak kodundan başlayarak </a:t>
            </a:r>
            <a:r>
              <a:rPr lang="tr-TR" dirty="0" err="1"/>
              <a:t>Docker</a:t>
            </a:r>
            <a:r>
              <a:rPr lang="tr-TR" dirty="0"/>
              <a:t> imajı oluşturulması, bu imajın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Hub’a</a:t>
            </a:r>
            <a:r>
              <a:rPr lang="tr-TR" dirty="0"/>
              <a:t> gönderilmesi ve </a:t>
            </a:r>
            <a:r>
              <a:rPr lang="tr-TR" dirty="0" err="1"/>
              <a:t>Kubernetes</a:t>
            </a:r>
            <a:r>
              <a:rPr lang="tr-TR" dirty="0"/>
              <a:t> ortamında otomatik olarak yayınlanması hedeflenmiştir.</a:t>
            </a:r>
          </a:p>
        </p:txBody>
      </p:sp>
    </p:spTree>
    <p:extLst>
      <p:ext uri="{BB962C8B-B14F-4D97-AF65-F5344CB8AC3E}">
        <p14:creationId xmlns:p14="http://schemas.microsoft.com/office/powerpoint/2010/main" val="140526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C2167F82-BD57-4D9B-BCC3-A4F13118B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1039" name="Freeform 23">
            <a:extLst>
              <a:ext uri="{FF2B5EF4-FFF2-40B4-BE49-F238E27FC236}">
                <a16:creationId xmlns:a16="http://schemas.microsoft.com/office/drawing/2014/main" id="{4CBF4B90-A27B-4E6A-B288-303118BA6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Visual Studio Code Logo PNG Vector (SVG) Free Download">
            <a:extLst>
              <a:ext uri="{FF2B5EF4-FFF2-40B4-BE49-F238E27FC236}">
                <a16:creationId xmlns:a16="http://schemas.microsoft.com/office/drawing/2014/main" id="{BAB91160-DE44-9904-6C34-D86A9E5BA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6129" y="685249"/>
            <a:ext cx="2627752" cy="26277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Rectangle 1040">
            <a:extLst>
              <a:ext uri="{FF2B5EF4-FFF2-40B4-BE49-F238E27FC236}">
                <a16:creationId xmlns:a16="http://schemas.microsoft.com/office/drawing/2014/main" id="{BC77A50A-7946-4C3E-A197-2F4ACE081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D2F85D7-7B2A-0C54-FB41-5244A19AC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2) Kullanılan Teknolojiler ve Araçlar</a:t>
            </a:r>
          </a:p>
          <a:p>
            <a:r>
              <a:rPr lang="tr-TR" dirty="0"/>
              <a:t>Azure </a:t>
            </a:r>
            <a:r>
              <a:rPr lang="tr-TR" dirty="0" err="1"/>
              <a:t>DevOps</a:t>
            </a:r>
            <a:endParaRPr lang="tr-TR" dirty="0"/>
          </a:p>
          <a:p>
            <a:r>
              <a:rPr lang="tr-TR" dirty="0" err="1"/>
              <a:t>Docker</a:t>
            </a:r>
            <a:endParaRPr lang="tr-TR" dirty="0"/>
          </a:p>
          <a:p>
            <a:r>
              <a:rPr lang="tr-TR" dirty="0" err="1"/>
              <a:t>Kubernetes</a:t>
            </a:r>
            <a:endParaRPr lang="tr-TR" dirty="0"/>
          </a:p>
          <a:p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Hub</a:t>
            </a:r>
            <a:endParaRPr lang="tr-TR" dirty="0"/>
          </a:p>
          <a:p>
            <a:r>
              <a:rPr lang="tr-TR" dirty="0"/>
              <a:t>Visual </a:t>
            </a:r>
            <a:r>
              <a:rPr lang="tr-TR" dirty="0" err="1"/>
              <a:t>Studio</a:t>
            </a:r>
            <a:r>
              <a:rPr lang="tr-TR" dirty="0"/>
              <a:t> </a:t>
            </a:r>
            <a:r>
              <a:rPr lang="tr-TR" dirty="0" err="1"/>
              <a:t>Code</a:t>
            </a:r>
            <a:endParaRPr lang="tr-TR" dirty="0"/>
          </a:p>
          <a:p>
            <a:r>
              <a:rPr lang="tr-TR" dirty="0"/>
              <a:t>Git</a:t>
            </a:r>
          </a:p>
          <a:p>
            <a:r>
              <a:rPr lang="tr-TR" dirty="0" err="1"/>
              <a:t>Docker</a:t>
            </a:r>
            <a:r>
              <a:rPr lang="tr-TR" dirty="0"/>
              <a:t> Desktop </a:t>
            </a:r>
          </a:p>
          <a:p>
            <a:endParaRPr lang="tr-TR" dirty="0"/>
          </a:p>
        </p:txBody>
      </p:sp>
      <p:pic>
        <p:nvPicPr>
          <p:cNvPr id="1028" name="Picture 4" descr="Logo, Icon, and Brand Guidelines | Docker">
            <a:extLst>
              <a:ext uri="{FF2B5EF4-FFF2-40B4-BE49-F238E27FC236}">
                <a16:creationId xmlns:a16="http://schemas.microsoft.com/office/drawing/2014/main" id="{FAE23859-2293-4405-1A02-963BFCCD2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08" y="1124799"/>
            <a:ext cx="2627752" cy="174864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-azure-devops-logo - TechAir">
            <a:extLst>
              <a:ext uri="{FF2B5EF4-FFF2-40B4-BE49-F238E27FC236}">
                <a16:creationId xmlns:a16="http://schemas.microsoft.com/office/drawing/2014/main" id="{046EBE5C-7899-5DA7-535D-CBC86633C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08" y="4108646"/>
            <a:ext cx="2627752" cy="157665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 Nedir? Github Kullanımı ve Temel Seviye Komutlar | by İrem Ateş Dogan |  Teknasyon Engineering">
            <a:extLst>
              <a:ext uri="{FF2B5EF4-FFF2-40B4-BE49-F238E27FC236}">
                <a16:creationId xmlns:a16="http://schemas.microsoft.com/office/drawing/2014/main" id="{E7359E39-08BC-19EC-7FBC-339AA06E1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6129" y="4349524"/>
            <a:ext cx="2627752" cy="109489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027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2066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C2CD1CF-ED3B-58C6-6B6D-59D8977D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83" y="331839"/>
            <a:ext cx="5284509" cy="1622321"/>
          </a:xfrm>
        </p:spPr>
        <p:txBody>
          <a:bodyPr>
            <a:normAutofit/>
          </a:bodyPr>
          <a:lstStyle/>
          <a:p>
            <a:r>
              <a:rPr lang="tr-TR" sz="2800" dirty="0">
                <a:solidFill>
                  <a:srgbClr val="EBEBEB"/>
                </a:solidFill>
              </a:rPr>
              <a:t>3)Projenin Genel Adımları</a:t>
            </a:r>
          </a:p>
        </p:txBody>
      </p:sp>
      <p:sp>
        <p:nvSpPr>
          <p:cNvPr id="2069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71" name="Freeform: Shape 2070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pic>
        <p:nvPicPr>
          <p:cNvPr id="2053" name="Picture 5" descr="Merdiven çıkan Adam Render, Adım, Merdiven, Büyüme PNG Resim Şeffaf ve  çizimi Ücretsiz İndirilebilir">
            <a:extLst>
              <a:ext uri="{FF2B5EF4-FFF2-40B4-BE49-F238E27FC236}">
                <a16:creationId xmlns:a16="http://schemas.microsoft.com/office/drawing/2014/main" id="{3CB14297-C7F9-D698-BF54-1581A1D9A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3992" y="1387920"/>
            <a:ext cx="5449889" cy="408215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3" name="Rectangle 2072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6EF7D5-FDD7-0440-C37A-EE8BDE4C4D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355" y="1536288"/>
            <a:ext cx="4166509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Kodlar Visual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Studio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yükle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Git ile Azure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DevOps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reposuna gönderilir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Main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branch’e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merge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işlemi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pipeline’ı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tetikler.(Derste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boyle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yapmamızı istediniz 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Pipeline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, Self-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Hosted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Agent üzerinde çalışır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image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build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et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Hub’a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et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Kubernetes’e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ve service uygula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Uygulama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cluster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 üzerinde çalışır hale getir</a:t>
            </a:r>
          </a:p>
        </p:txBody>
      </p:sp>
    </p:spTree>
    <p:extLst>
      <p:ext uri="{BB962C8B-B14F-4D97-AF65-F5344CB8AC3E}">
        <p14:creationId xmlns:p14="http://schemas.microsoft.com/office/powerpoint/2010/main" val="511718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A8273F6-3D73-87E8-E34E-66B6E9A3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108422" cy="876549"/>
          </a:xfrm>
        </p:spPr>
        <p:txBody>
          <a:bodyPr/>
          <a:lstStyle/>
          <a:p>
            <a:r>
              <a:rPr lang="tr-TR" sz="3200" dirty="0"/>
              <a:t>4)</a:t>
            </a:r>
            <a:r>
              <a:rPr lang="tr-TR" sz="3200" dirty="0" err="1"/>
              <a:t>AzureDevops’da</a:t>
            </a:r>
            <a:r>
              <a:rPr lang="tr-TR" sz="3200" dirty="0"/>
              <a:t> Projeyi Oluşturma</a:t>
            </a:r>
          </a:p>
        </p:txBody>
      </p:sp>
      <p:pic>
        <p:nvPicPr>
          <p:cNvPr id="5" name="Resim 4" descr="metin, yazılım, bilgisayar simges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C18285E-88C6-034E-F3C2-CB1E032FD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" y="1812542"/>
            <a:ext cx="5037667" cy="2887134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52F45F7D-59D4-6E78-D802-47B4AF8C106B}"/>
              </a:ext>
            </a:extLst>
          </p:cNvPr>
          <p:cNvSpPr txBox="1"/>
          <p:nvPr/>
        </p:nvSpPr>
        <p:spPr>
          <a:xfrm>
            <a:off x="5909734" y="140681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 projede Azure </a:t>
            </a:r>
            <a:r>
              <a:rPr lang="tr-TR" dirty="0" err="1"/>
              <a:t>DevOps</a:t>
            </a:r>
            <a:r>
              <a:rPr lang="tr-TR" dirty="0"/>
              <a:t> kullanılmasının temel amacı; yazılım geliştirme, entegrasyon ve dağıtım süreçlerini merkezi, otomatik ve izlenebilir bir yapı altında toplamaktır. Azure </a:t>
            </a:r>
            <a:r>
              <a:rPr lang="tr-TR" dirty="0" err="1"/>
              <a:t>DevOps</a:t>
            </a:r>
            <a:r>
              <a:rPr lang="tr-TR" dirty="0"/>
              <a:t>, kaynak kod yönetimi, sürekli entegrasyon ve sürekli dağıtım süreçlerinin tek bir platform üzerinden yönetilmesini sağlamaktadır.</a:t>
            </a:r>
          </a:p>
        </p:txBody>
      </p: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51A65222-BCF0-AD3C-81F1-7865D178E0B6}"/>
              </a:ext>
            </a:extLst>
          </p:cNvPr>
          <p:cNvCxnSpPr>
            <a:cxnSpLocks/>
          </p:cNvCxnSpPr>
          <p:nvPr/>
        </p:nvCxnSpPr>
        <p:spPr>
          <a:xfrm>
            <a:off x="4838700" y="2286000"/>
            <a:ext cx="825500" cy="18630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11052DD6-EE4E-7B87-0423-47609E944966}"/>
              </a:ext>
            </a:extLst>
          </p:cNvPr>
          <p:cNvSpPr txBox="1"/>
          <p:nvPr/>
        </p:nvSpPr>
        <p:spPr>
          <a:xfrm>
            <a:off x="5554133" y="4233671"/>
            <a:ext cx="57573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New Project butonu ile başka bir proje daha oluşturabiliriz . Örneğin bir taksi çağırma uygulaması olsun. İlk önce web sitesi  olarak bu projeyi yapmış olalım. Daha sonra istek olarak mobil </a:t>
            </a:r>
            <a:r>
              <a:rPr lang="tr-TR" dirty="0" err="1"/>
              <a:t>app</a:t>
            </a:r>
            <a:r>
              <a:rPr lang="tr-TR" dirty="0"/>
              <a:t> şeklinde bir istek olursa yine aynı proje içinde gerekli sistem kurulur. Projeler arası karışıklık önlenir.</a:t>
            </a:r>
          </a:p>
        </p:txBody>
      </p:sp>
    </p:spTree>
    <p:extLst>
      <p:ext uri="{BB962C8B-B14F-4D97-AF65-F5344CB8AC3E}">
        <p14:creationId xmlns:p14="http://schemas.microsoft.com/office/powerpoint/2010/main" val="165674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4BE348-7E2F-7AAE-88C1-26476EC8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79" y="63252"/>
            <a:ext cx="3714222" cy="605615"/>
          </a:xfrm>
        </p:spPr>
        <p:txBody>
          <a:bodyPr/>
          <a:lstStyle/>
          <a:p>
            <a:r>
              <a:rPr lang="tr-TR" sz="3200" dirty="0"/>
              <a:t>5)Agent Kurulumu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BF06F276-16A1-2296-E891-4E43F9A1A03D}"/>
              </a:ext>
            </a:extLst>
          </p:cNvPr>
          <p:cNvSpPr txBox="1"/>
          <p:nvPr/>
        </p:nvSpPr>
        <p:spPr>
          <a:xfrm>
            <a:off x="4511040" y="1243876"/>
            <a:ext cx="7020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Agent, </a:t>
            </a:r>
            <a:r>
              <a:rPr lang="tr-TR" dirty="0" err="1"/>
              <a:t>pipeline</a:t>
            </a:r>
            <a:r>
              <a:rPr lang="tr-TR" dirty="0"/>
              <a:t> adımlarını çalıştıran yürütme ortamıdır. Bu projede Self-</a:t>
            </a:r>
            <a:r>
              <a:rPr lang="tr-TR" dirty="0" err="1"/>
              <a:t>Hosted</a:t>
            </a:r>
            <a:r>
              <a:rPr lang="tr-TR" dirty="0"/>
              <a:t> Agent kullanılarak </a:t>
            </a:r>
            <a:r>
              <a:rPr lang="tr-TR" dirty="0" err="1"/>
              <a:t>pipeline</a:t>
            </a:r>
            <a:r>
              <a:rPr lang="tr-TR" dirty="0"/>
              <a:t> işlemlerinin geliştiricinin kendi bilgisayarı üzerinde çalışması sağlanmaktır.</a:t>
            </a:r>
          </a:p>
        </p:txBody>
      </p:sp>
      <p:pic>
        <p:nvPicPr>
          <p:cNvPr id="7" name="Resim 6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38A7508-1F17-B0C7-A4F6-57648B3A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19" y="1146741"/>
            <a:ext cx="3714221" cy="5402465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452635DF-8B04-BFA0-25A6-F2C5CA755CD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88000" y="3367315"/>
            <a:ext cx="46126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hesabına giriş yapılır ve ilgili proje açılır.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altLang="tr-TR" dirty="0" err="1">
                <a:latin typeface="Arial" panose="020B0604020202020204" pitchFamily="34" charset="0"/>
              </a:rPr>
              <a:t>Organization</a:t>
            </a:r>
            <a:r>
              <a:rPr lang="tr-TR" altLang="tr-TR" dirty="0"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Settings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Pools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menüsüne girilir.</a:t>
            </a:r>
          </a:p>
        </p:txBody>
      </p: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80A8F9B0-4455-7C20-542A-3C6D93589483}"/>
              </a:ext>
            </a:extLst>
          </p:cNvPr>
          <p:cNvCxnSpPr/>
          <p:nvPr/>
        </p:nvCxnSpPr>
        <p:spPr>
          <a:xfrm flipV="1">
            <a:off x="2773680" y="3840480"/>
            <a:ext cx="2661920" cy="2580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64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C0E2D8C-0487-C17B-F2FC-A8029D06E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8" y="0"/>
            <a:ext cx="3803968" cy="3081746"/>
          </a:xfrm>
          <a:prstGeom prst="rect">
            <a:avLst/>
          </a:prstGeom>
        </p:spPr>
      </p:pic>
      <p:cxnSp>
        <p:nvCxnSpPr>
          <p:cNvPr id="5" name="Düz Ok Bağlayıcısı 4">
            <a:extLst>
              <a:ext uri="{FF2B5EF4-FFF2-40B4-BE49-F238E27FC236}">
                <a16:creationId xmlns:a16="http://schemas.microsoft.com/office/drawing/2014/main" id="{41CA21A8-4733-A73C-E1CA-5FA26DD503C2}"/>
              </a:ext>
            </a:extLst>
          </p:cNvPr>
          <p:cNvCxnSpPr>
            <a:cxnSpLocks/>
          </p:cNvCxnSpPr>
          <p:nvPr/>
        </p:nvCxnSpPr>
        <p:spPr>
          <a:xfrm flipH="1">
            <a:off x="1286933" y="838200"/>
            <a:ext cx="897467" cy="27136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Resim 12" descr="metin, ekran görüntüsü, yazılım, bilgisaya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5006A38-7270-9419-AB12-A743F4EC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534" y="3649133"/>
            <a:ext cx="4405335" cy="3081746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B06B48E2-8C0D-FD1C-D98E-E49F8624F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869" y="840399"/>
            <a:ext cx="625988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Seçilen Agent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içinde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seçeneğine tıklanır.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Agent’ın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çalışacağı işletim sistemi göre (Benim bilgisayarım Window</a:t>
            </a:r>
            <a:r>
              <a:rPr lang="tr-TR" altLang="tr-TR" dirty="0">
                <a:latin typeface="Arial" panose="020B0604020202020204" pitchFamily="34" charset="0"/>
              </a:rPr>
              <a:t>s olduğu için Windows seçtim)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seçilir.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tarafından sağlanan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paketi indirilir.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dosyaları yerel bilgisayarda uygun bir dizine çıkarılır.</a:t>
            </a:r>
          </a:p>
        </p:txBody>
      </p:sp>
      <p:pic>
        <p:nvPicPr>
          <p:cNvPr id="18" name="Resim 17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33659D4-660B-E96E-9CA9-3DEB31B02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9" y="3551814"/>
            <a:ext cx="3803968" cy="3179065"/>
          </a:xfrm>
          <a:prstGeom prst="rect">
            <a:avLst/>
          </a:prstGeom>
        </p:spPr>
      </p:pic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23D04E28-B617-27FC-C14E-95B774F1033B}"/>
              </a:ext>
            </a:extLst>
          </p:cNvPr>
          <p:cNvCxnSpPr/>
          <p:nvPr/>
        </p:nvCxnSpPr>
        <p:spPr>
          <a:xfrm>
            <a:off x="3081867" y="3962400"/>
            <a:ext cx="3928533" cy="6011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3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 descr="metin, ekran görüntüsü, yazı tipi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6C93144-C72F-252D-0508-3EFFC07F9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33" y="360236"/>
            <a:ext cx="3657167" cy="289943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6F21629-C017-E0F3-D90D-049CE31D048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012267" y="1514039"/>
            <a:ext cx="63330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Terminal üzerinden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dizinine girilir.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Config.cmd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komudu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çalıştırılır.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URL girilir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Kimlik doğrulama yöntemi seçilir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 belirtilir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adı tanımlanır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servis olarak çalıştırılır ve kurulum tamamlanır.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Agent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Pools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ekranından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agent’ın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durumda olduğu doğrulanır.</a:t>
            </a:r>
          </a:p>
        </p:txBody>
      </p:sp>
      <p:pic>
        <p:nvPicPr>
          <p:cNvPr id="9" name="Resim 8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5B1E3A-7816-74DB-EB2C-B53C37C47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3" y="3598335"/>
            <a:ext cx="3657167" cy="2667921"/>
          </a:xfrm>
          <a:prstGeom prst="rect">
            <a:avLst/>
          </a:prstGeom>
        </p:spPr>
      </p:pic>
      <p:pic>
        <p:nvPicPr>
          <p:cNvPr id="11" name="Resim 10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7EF2309-2293-145E-3302-C19731496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717" y="4344896"/>
            <a:ext cx="7389050" cy="23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95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C523BB-D643-5FC1-847D-28D5C6E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523" y="0"/>
            <a:ext cx="7972956" cy="893482"/>
          </a:xfrm>
        </p:spPr>
        <p:txBody>
          <a:bodyPr/>
          <a:lstStyle/>
          <a:p>
            <a:r>
              <a:rPr lang="tr-TR" sz="3200" dirty="0"/>
              <a:t>6)</a:t>
            </a:r>
            <a:r>
              <a:rPr lang="tr-TR" sz="3200" dirty="0" err="1"/>
              <a:t>VsCode</a:t>
            </a:r>
            <a:r>
              <a:rPr lang="tr-TR" sz="3200" dirty="0"/>
              <a:t> ile </a:t>
            </a:r>
            <a:r>
              <a:rPr lang="tr-TR" sz="3200" dirty="0" err="1"/>
              <a:t>AzureRepo</a:t>
            </a:r>
            <a:r>
              <a:rPr lang="tr-TR" sz="3200" dirty="0"/>
              <a:t> Bağlantısı</a:t>
            </a:r>
          </a:p>
        </p:txBody>
      </p:sp>
      <p:pic>
        <p:nvPicPr>
          <p:cNvPr id="8" name="Resim 7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A7A227F-359B-1142-A3B0-C61AFAB71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89" y="1981199"/>
            <a:ext cx="3879078" cy="2294467"/>
          </a:xfrm>
          <a:prstGeom prst="rect">
            <a:avLst/>
          </a:prstGeom>
        </p:spPr>
      </p:pic>
      <p:sp>
        <p:nvSpPr>
          <p:cNvPr id="11" name="Başlık 1">
            <a:extLst>
              <a:ext uri="{FF2B5EF4-FFF2-40B4-BE49-F238E27FC236}">
                <a16:creationId xmlns:a16="http://schemas.microsoft.com/office/drawing/2014/main" id="{9FC7CB89-E88D-AB86-3A63-9987EA46AB68}"/>
              </a:ext>
            </a:extLst>
          </p:cNvPr>
          <p:cNvSpPr txBox="1">
            <a:spLocks/>
          </p:cNvSpPr>
          <p:nvPr/>
        </p:nvSpPr>
        <p:spPr>
          <a:xfrm>
            <a:off x="249765" y="853264"/>
            <a:ext cx="6709835" cy="6900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sz="2400" dirty="0"/>
              <a:t>İlk olarak projemizde bir repo oluşturuyoruz</a:t>
            </a:r>
            <a:r>
              <a:rPr lang="tr-TR" sz="2800" dirty="0"/>
              <a:t>.</a:t>
            </a:r>
          </a:p>
        </p:txBody>
      </p:sp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E91AE342-1A7A-D9E0-42ED-B0FEE76182B4}"/>
              </a:ext>
            </a:extLst>
          </p:cNvPr>
          <p:cNvCxnSpPr>
            <a:cxnSpLocks/>
          </p:cNvCxnSpPr>
          <p:nvPr/>
        </p:nvCxnSpPr>
        <p:spPr>
          <a:xfrm flipV="1">
            <a:off x="3378200" y="1331383"/>
            <a:ext cx="160867" cy="16996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Başlık 1">
            <a:extLst>
              <a:ext uri="{FF2B5EF4-FFF2-40B4-BE49-F238E27FC236}">
                <a16:creationId xmlns:a16="http://schemas.microsoft.com/office/drawing/2014/main" id="{61C80021-D93B-4ED0-6514-6B9CF810343A}"/>
              </a:ext>
            </a:extLst>
          </p:cNvPr>
          <p:cNvSpPr txBox="1">
            <a:spLocks/>
          </p:cNvSpPr>
          <p:nvPr/>
        </p:nvSpPr>
        <p:spPr>
          <a:xfrm>
            <a:off x="5435600" y="3839633"/>
            <a:ext cx="5037667" cy="6900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tr-TR" sz="2800" dirty="0"/>
          </a:p>
        </p:txBody>
      </p:sp>
      <p:pic>
        <p:nvPicPr>
          <p:cNvPr id="19" name="Resim 18" descr="metin, yazı tipi, yazılım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9012F09-DB44-C4FF-9A10-65C747835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468" y="4974950"/>
            <a:ext cx="7818798" cy="1463167"/>
          </a:xfrm>
          <a:prstGeom prst="rect">
            <a:avLst/>
          </a:prstGeom>
        </p:spPr>
      </p:pic>
      <p:sp>
        <p:nvSpPr>
          <p:cNvPr id="20" name="Başlık 1">
            <a:extLst>
              <a:ext uri="{FF2B5EF4-FFF2-40B4-BE49-F238E27FC236}">
                <a16:creationId xmlns:a16="http://schemas.microsoft.com/office/drawing/2014/main" id="{8C29E84C-02F7-4519-35A0-20248D280937}"/>
              </a:ext>
            </a:extLst>
          </p:cNvPr>
          <p:cNvSpPr txBox="1">
            <a:spLocks/>
          </p:cNvSpPr>
          <p:nvPr/>
        </p:nvSpPr>
        <p:spPr>
          <a:xfrm>
            <a:off x="4853431" y="2264291"/>
            <a:ext cx="6709835" cy="1384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sz="2400" dirty="0"/>
              <a:t>Git </a:t>
            </a:r>
            <a:r>
              <a:rPr lang="tr-TR" sz="2400" dirty="0" err="1"/>
              <a:t>clone</a:t>
            </a:r>
            <a:r>
              <a:rPr lang="tr-TR" sz="2400" dirty="0"/>
              <a:t> ve repo linki ile </a:t>
            </a:r>
            <a:r>
              <a:rPr lang="tr-TR" sz="2400" dirty="0" err="1"/>
              <a:t>localde</a:t>
            </a:r>
            <a:r>
              <a:rPr lang="tr-TR" sz="2400" dirty="0"/>
              <a:t> bir klasör oluşturarak mevcut kodları ve </a:t>
            </a:r>
            <a:r>
              <a:rPr lang="tr-TR" sz="2400" dirty="0" err="1"/>
              <a:t>değişiklilkeri</a:t>
            </a:r>
            <a:r>
              <a:rPr lang="tr-TR" sz="2400" dirty="0"/>
              <a:t> kaydederiz </a:t>
            </a:r>
            <a:endParaRPr lang="tr-TR" sz="2800" dirty="0"/>
          </a:p>
        </p:txBody>
      </p: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A3426FB7-2B29-3FA9-81F6-386218F2D399}"/>
              </a:ext>
            </a:extLst>
          </p:cNvPr>
          <p:cNvCxnSpPr/>
          <p:nvPr/>
        </p:nvCxnSpPr>
        <p:spPr>
          <a:xfrm flipH="1">
            <a:off x="6096000" y="3107267"/>
            <a:ext cx="1481667" cy="24553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70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9F19DB-1819-4264-4FAF-34749AF0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067" y="232584"/>
            <a:ext cx="6012234" cy="4415616"/>
          </a:xfrm>
        </p:spPr>
        <p:txBody>
          <a:bodyPr/>
          <a:lstStyle/>
          <a:p>
            <a:r>
              <a:rPr lang="tr-TR" sz="2000" dirty="0" err="1"/>
              <a:t>Localdeki</a:t>
            </a:r>
            <a:r>
              <a:rPr lang="tr-TR" sz="2000" dirty="0"/>
              <a:t> değişiklikleri Azure repoya yollamak için :</a:t>
            </a:r>
            <a:br>
              <a:rPr lang="tr-TR" sz="2000" dirty="0"/>
            </a:br>
            <a:br>
              <a:rPr lang="tr-TR" sz="2000" dirty="0"/>
            </a:br>
            <a:r>
              <a:rPr lang="tr-TR" sz="2000" dirty="0"/>
              <a:t>git </a:t>
            </a:r>
            <a:r>
              <a:rPr lang="tr-TR" sz="2000" dirty="0" err="1"/>
              <a:t>status</a:t>
            </a:r>
            <a:r>
              <a:rPr lang="tr-TR" sz="2000" dirty="0"/>
              <a:t> ile </a:t>
            </a:r>
            <a:r>
              <a:rPr lang="tr-TR" sz="2000" dirty="0" err="1"/>
              <a:t>localdeki</a:t>
            </a:r>
            <a:r>
              <a:rPr lang="tr-TR" sz="2000" dirty="0"/>
              <a:t> ve repodaki farka bakarız</a:t>
            </a:r>
            <a:br>
              <a:rPr lang="tr-TR" sz="2000" dirty="0"/>
            </a:br>
            <a:br>
              <a:rPr lang="tr-TR" sz="2000" dirty="0"/>
            </a:br>
            <a:r>
              <a:rPr lang="tr-TR" sz="2000" dirty="0" err="1"/>
              <a:t>gitt</a:t>
            </a:r>
            <a:r>
              <a:rPr lang="tr-TR" sz="2000" dirty="0"/>
              <a:t> </a:t>
            </a:r>
            <a:r>
              <a:rPr lang="tr-TR" sz="2000" dirty="0" err="1"/>
              <a:t>add</a:t>
            </a:r>
            <a:r>
              <a:rPr lang="tr-TR" sz="2000" dirty="0"/>
              <a:t> &lt;Değişiklik ve ekleme yaptığımız dosya adları&gt;,değişiklikleri </a:t>
            </a:r>
            <a:r>
              <a:rPr lang="tr-TR" sz="2000" dirty="0" err="1"/>
              <a:t>GİT’e</a:t>
            </a:r>
            <a:r>
              <a:rPr lang="tr-TR" sz="2000" dirty="0"/>
              <a:t> ekler </a:t>
            </a:r>
            <a:br>
              <a:rPr lang="tr-TR" sz="2000" dirty="0"/>
            </a:br>
            <a:br>
              <a:rPr lang="tr-TR" sz="2000" dirty="0"/>
            </a:br>
            <a:r>
              <a:rPr lang="tr-TR" sz="2000" dirty="0"/>
              <a:t>git </a:t>
            </a:r>
            <a:r>
              <a:rPr lang="tr-TR" sz="2000" dirty="0" err="1"/>
              <a:t>commit</a:t>
            </a:r>
            <a:r>
              <a:rPr lang="tr-TR" sz="2000" dirty="0"/>
              <a:t> –m ‘ kaydedildi ’, değişiklikleri bir paket yapar.</a:t>
            </a:r>
            <a:br>
              <a:rPr lang="tr-TR" sz="2000" dirty="0"/>
            </a:br>
            <a:br>
              <a:rPr lang="tr-TR" sz="2000" dirty="0"/>
            </a:br>
            <a:r>
              <a:rPr lang="tr-TR" sz="2000" dirty="0"/>
              <a:t>git </a:t>
            </a:r>
            <a:r>
              <a:rPr lang="tr-TR" sz="2000" dirty="0" err="1"/>
              <a:t>push</a:t>
            </a:r>
            <a:r>
              <a:rPr lang="tr-TR" sz="2000" dirty="0"/>
              <a:t>, Azure repoya yollar</a:t>
            </a:r>
            <a:br>
              <a:rPr lang="tr-TR" sz="2000" dirty="0"/>
            </a:br>
            <a:br>
              <a:rPr lang="tr-TR" sz="2000" dirty="0"/>
            </a:br>
            <a:r>
              <a:rPr lang="tr-TR" sz="2000" dirty="0" err="1"/>
              <a:t>Komudlarını</a:t>
            </a:r>
            <a:r>
              <a:rPr lang="tr-TR" sz="2000" dirty="0"/>
              <a:t> takip ederek repoya yollarız.</a:t>
            </a:r>
          </a:p>
        </p:txBody>
      </p:sp>
      <p:pic>
        <p:nvPicPr>
          <p:cNvPr id="10" name="Resim 9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359B9C0-E732-2D71-7768-39200A0C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99" y="294313"/>
            <a:ext cx="3943901" cy="4415616"/>
          </a:xfrm>
          <a:prstGeom prst="rect">
            <a:avLst/>
          </a:prstGeom>
        </p:spPr>
      </p:pic>
      <p:sp>
        <p:nvSpPr>
          <p:cNvPr id="11" name="Başlık 1">
            <a:extLst>
              <a:ext uri="{FF2B5EF4-FFF2-40B4-BE49-F238E27FC236}">
                <a16:creationId xmlns:a16="http://schemas.microsoft.com/office/drawing/2014/main" id="{FF0203A9-6C7D-9286-8B32-52D4C855058E}"/>
              </a:ext>
            </a:extLst>
          </p:cNvPr>
          <p:cNvSpPr txBox="1">
            <a:spLocks/>
          </p:cNvSpPr>
          <p:nvPr/>
        </p:nvSpPr>
        <p:spPr>
          <a:xfrm>
            <a:off x="1388083" y="4794596"/>
            <a:ext cx="2548917" cy="4886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sz="2000" dirty="0"/>
              <a:t>Örnek bir çalışma</a:t>
            </a:r>
          </a:p>
        </p:txBody>
      </p: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63189C98-5D9C-2D80-151D-14001AA33AF0}"/>
              </a:ext>
            </a:extLst>
          </p:cNvPr>
          <p:cNvCxnSpPr/>
          <p:nvPr/>
        </p:nvCxnSpPr>
        <p:spPr>
          <a:xfrm flipH="1" flipV="1">
            <a:off x="2752449" y="431800"/>
            <a:ext cx="3343551" cy="8466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78922642-F4D1-7EC0-7DE0-F114892F17EA}"/>
              </a:ext>
            </a:extLst>
          </p:cNvPr>
          <p:cNvCxnSpPr/>
          <p:nvPr/>
        </p:nvCxnSpPr>
        <p:spPr>
          <a:xfrm flipH="1" flipV="1">
            <a:off x="3124200" y="1710267"/>
            <a:ext cx="2819400" cy="279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2F4AD49A-80F4-04A3-59AD-318D703F0134}"/>
              </a:ext>
            </a:extLst>
          </p:cNvPr>
          <p:cNvCxnSpPr/>
          <p:nvPr/>
        </p:nvCxnSpPr>
        <p:spPr>
          <a:xfrm flipH="1" flipV="1">
            <a:off x="2752449" y="1989667"/>
            <a:ext cx="3199618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CAA21384-9045-3EC8-D60C-B853EE7B4631}"/>
              </a:ext>
            </a:extLst>
          </p:cNvPr>
          <p:cNvCxnSpPr/>
          <p:nvPr/>
        </p:nvCxnSpPr>
        <p:spPr>
          <a:xfrm flipH="1" flipV="1">
            <a:off x="2752449" y="2502121"/>
            <a:ext cx="3199618" cy="1248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069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D33B4E-37F3-8A9A-B270-57242CB40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97" y="164852"/>
            <a:ext cx="6627737" cy="622548"/>
          </a:xfrm>
        </p:spPr>
        <p:txBody>
          <a:bodyPr/>
          <a:lstStyle/>
          <a:p>
            <a:r>
              <a:rPr lang="tr-TR" sz="2800" dirty="0"/>
              <a:t>7)Uygulama için </a:t>
            </a:r>
            <a:r>
              <a:rPr lang="tr-TR" sz="2800" dirty="0" err="1"/>
              <a:t>DockerFile</a:t>
            </a:r>
            <a:r>
              <a:rPr lang="tr-TR" sz="2800" dirty="0"/>
              <a:t> yazılması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D66856F-05C5-EC83-45BD-2179C2B3E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60" y="1151465"/>
            <a:ext cx="5063574" cy="420793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8D0FC19A-E190-57DA-D3B2-2F868520479A}"/>
              </a:ext>
            </a:extLst>
          </p:cNvPr>
          <p:cNvSpPr txBox="1"/>
          <p:nvPr/>
        </p:nvSpPr>
        <p:spPr>
          <a:xfrm>
            <a:off x="6036733" y="158600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Dockerfile</a:t>
            </a:r>
            <a:r>
              <a:rPr lang="tr-TR" dirty="0"/>
              <a:t>, uygulamam için bir </a:t>
            </a:r>
            <a:r>
              <a:rPr lang="tr-TR" dirty="0" err="1"/>
              <a:t>Docker</a:t>
            </a:r>
            <a:r>
              <a:rPr lang="tr-TR" dirty="0"/>
              <a:t> imajının nasıl oluşturulacağını adım adım tanımladığım dosyadır. Bu dosya sayesinde hangi taban imajın kullanılacağı, uygulamanın nasıl </a:t>
            </a:r>
            <a:r>
              <a:rPr lang="tr-TR" dirty="0" err="1"/>
              <a:t>build</a:t>
            </a:r>
            <a:r>
              <a:rPr lang="tr-TR" dirty="0"/>
              <a:t> edileceği ve nasıl çalıştırılacağı belirlenir. Projemde </a:t>
            </a:r>
            <a:r>
              <a:rPr lang="tr-TR" dirty="0" err="1"/>
              <a:t>Dockerfile</a:t>
            </a:r>
            <a:r>
              <a:rPr lang="tr-TR" dirty="0"/>
              <a:t> kullanarak her </a:t>
            </a:r>
            <a:r>
              <a:rPr lang="tr-TR" dirty="0" err="1"/>
              <a:t>build</a:t>
            </a:r>
            <a:r>
              <a:rPr lang="tr-TR" dirty="0"/>
              <a:t> işleminde aynı ve standart bir imaj ürettim. Böylece uygulamanın CI/CD sürecinde otomatik ve hatasız şekilde </a:t>
            </a:r>
            <a:r>
              <a:rPr lang="tr-TR" dirty="0" err="1"/>
              <a:t>container</a:t>
            </a:r>
            <a:r>
              <a:rPr lang="tr-TR" dirty="0"/>
              <a:t> haline gelmesini sağladım.</a:t>
            </a:r>
          </a:p>
        </p:txBody>
      </p:sp>
    </p:spTree>
    <p:extLst>
      <p:ext uri="{BB962C8B-B14F-4D97-AF65-F5344CB8AC3E}">
        <p14:creationId xmlns:p14="http://schemas.microsoft.com/office/powerpoint/2010/main" val="2393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5A04D6-2E56-9896-5D78-3944FD95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45" y="147918"/>
            <a:ext cx="7024689" cy="758015"/>
          </a:xfrm>
        </p:spPr>
        <p:txBody>
          <a:bodyPr/>
          <a:lstStyle/>
          <a:p>
            <a:r>
              <a:rPr lang="tr-TR" sz="3200" dirty="0"/>
              <a:t>8)</a:t>
            </a:r>
            <a:r>
              <a:rPr lang="tr-TR" sz="3200" dirty="0" err="1"/>
              <a:t>Pipline.yml</a:t>
            </a:r>
            <a:r>
              <a:rPr lang="tr-TR" sz="3200" dirty="0"/>
              <a:t> ve </a:t>
            </a:r>
            <a:r>
              <a:rPr lang="tr-TR" sz="3200" dirty="0" err="1"/>
              <a:t>Pipline</a:t>
            </a:r>
            <a:r>
              <a:rPr lang="tr-TR" sz="3200" dirty="0"/>
              <a:t> Oluşturma</a:t>
            </a:r>
          </a:p>
        </p:txBody>
      </p:sp>
      <p:pic>
        <p:nvPicPr>
          <p:cNvPr id="5" name="Resim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871B097-36D8-1E2F-37E4-82845D2E5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4" y="1102219"/>
            <a:ext cx="3408173" cy="2951621"/>
          </a:xfrm>
          <a:prstGeom prst="rect">
            <a:avLst/>
          </a:prstGeom>
        </p:spPr>
      </p:pic>
      <p:pic>
        <p:nvPicPr>
          <p:cNvPr id="7" name="Resim 6" descr="metin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8A8ADBC-0E6F-B544-7418-FAF1C8A89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34" y="4305367"/>
            <a:ext cx="3408174" cy="2404715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3026B15E-6AB1-9A5B-E676-8B173B6B5CD6}"/>
              </a:ext>
            </a:extLst>
          </p:cNvPr>
          <p:cNvSpPr txBox="1"/>
          <p:nvPr/>
        </p:nvSpPr>
        <p:spPr>
          <a:xfrm>
            <a:off x="4766734" y="394546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Azurede</a:t>
            </a:r>
            <a:r>
              <a:rPr lang="tr-TR" dirty="0"/>
              <a:t> </a:t>
            </a:r>
            <a:r>
              <a:rPr lang="tr-TR" dirty="0" err="1"/>
              <a:t>Pipline</a:t>
            </a:r>
            <a:r>
              <a:rPr lang="tr-TR" dirty="0"/>
              <a:t> oluşturma adımları: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28080967-6F3F-5499-1503-AAB84DE4A409}"/>
              </a:ext>
            </a:extLst>
          </p:cNvPr>
          <p:cNvSpPr txBox="1"/>
          <p:nvPr/>
        </p:nvSpPr>
        <p:spPr>
          <a:xfrm>
            <a:off x="5130801" y="105833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Pipeline</a:t>
            </a:r>
            <a:r>
              <a:rPr lang="tr-TR" dirty="0"/>
              <a:t>, projede yapılan kod değişikliklerinden sonra </a:t>
            </a:r>
            <a:r>
              <a:rPr lang="tr-TR" dirty="0" err="1"/>
              <a:t>build</a:t>
            </a:r>
            <a:r>
              <a:rPr lang="tr-TR" dirty="0"/>
              <a:t>,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 oluşturma ve </a:t>
            </a:r>
            <a:r>
              <a:rPr lang="tr-TR" dirty="0" err="1"/>
              <a:t>deployment</a:t>
            </a:r>
            <a:r>
              <a:rPr lang="tr-TR" dirty="0"/>
              <a:t> işlemlerinin otomatik olarak çalışmasını sağlar. Bu sayede manuel işlem yapmadan uygulama baştan sona otomatik bir şekilde yayınlanır. Projemde </a:t>
            </a:r>
            <a:r>
              <a:rPr lang="tr-TR" dirty="0" err="1"/>
              <a:t>pipeline</a:t>
            </a:r>
            <a:r>
              <a:rPr lang="tr-TR" dirty="0"/>
              <a:t> kullanarak hataları erken aşamada yakaladım ve süreci daha kontrollü hale getirdim. Ayrıca tüm adımlar kayıt altına alındığı için yapılan işlemler izlenebilir oldu.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85AD90EF-22B9-1883-9BEB-174F61F746F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79126" y="4684131"/>
            <a:ext cx="58836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projesi açılır ve sol menüden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bölümüne girilir.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butonuna tıklanır.</a:t>
            </a:r>
          </a:p>
        </p:txBody>
      </p: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6B8C7F5E-D737-69D3-7E5F-AC55C876E4C8}"/>
              </a:ext>
            </a:extLst>
          </p:cNvPr>
          <p:cNvCxnSpPr/>
          <p:nvPr/>
        </p:nvCxnSpPr>
        <p:spPr>
          <a:xfrm flipH="1" flipV="1">
            <a:off x="1193800" y="2578029"/>
            <a:ext cx="3785326" cy="2290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60125F63-F061-F0F3-6344-DC626DADA496}"/>
              </a:ext>
            </a:extLst>
          </p:cNvPr>
          <p:cNvCxnSpPr/>
          <p:nvPr/>
        </p:nvCxnSpPr>
        <p:spPr>
          <a:xfrm flipH="1" flipV="1">
            <a:off x="2895600" y="4684131"/>
            <a:ext cx="2083526" cy="823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25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BF3C6E9-8519-FFF4-020E-27AC9E66C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23" y="251769"/>
            <a:ext cx="3626257" cy="2801912"/>
          </a:xfrm>
          <a:prstGeom prst="rect">
            <a:avLst/>
          </a:prstGeom>
        </p:spPr>
      </p:pic>
      <p:pic>
        <p:nvPicPr>
          <p:cNvPr id="5" name="Resim 4" descr="metin, ekran görüntüsü, yazı tipi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A975FB3-9A01-D349-5A5E-02AA5667B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" y="3675616"/>
            <a:ext cx="3626257" cy="2381583"/>
          </a:xfrm>
          <a:prstGeom prst="rect">
            <a:avLst/>
          </a:prstGeom>
        </p:spPr>
      </p:pic>
      <p:pic>
        <p:nvPicPr>
          <p:cNvPr id="7" name="Resim 6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44489E-D8BA-1358-42C3-CA94201DD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6" y="3675616"/>
            <a:ext cx="3894667" cy="238158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C138963-9153-F1C7-2869-1EBEFA47E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667" y="523802"/>
            <a:ext cx="608608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Açılan ekranda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pipeline’ın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bağlanacağı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olarak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MthProjeOdevi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seçilir.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ekranında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 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(YAML)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seçilir.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adımında mevcut YAML dosyasını kullanmak için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Azure </a:t>
            </a:r>
            <a:r>
              <a:rPr kumimoji="0" lang="tr-TR" altLang="tr-T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Pipelines</a:t>
            </a:r>
            <a:r>
              <a:rPr kumimoji="0" lang="tr-TR" altLang="tr-T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YAML file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seçilir.</a:t>
            </a:r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A6E0F9D8-2004-C6DB-829A-AF6B677AC5C5}"/>
              </a:ext>
            </a:extLst>
          </p:cNvPr>
          <p:cNvCxnSpPr/>
          <p:nvPr/>
        </p:nvCxnSpPr>
        <p:spPr>
          <a:xfrm flipH="1">
            <a:off x="2421467" y="736600"/>
            <a:ext cx="2870200" cy="916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83D2CE22-BE62-DCA3-0161-61160F6EB07B}"/>
              </a:ext>
            </a:extLst>
          </p:cNvPr>
          <p:cNvCxnSpPr/>
          <p:nvPr/>
        </p:nvCxnSpPr>
        <p:spPr>
          <a:xfrm flipH="1">
            <a:off x="2489200" y="1652725"/>
            <a:ext cx="2802467" cy="2826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06528285-EBAB-DFEE-ED56-CBBF3AF22EBB}"/>
              </a:ext>
            </a:extLst>
          </p:cNvPr>
          <p:cNvCxnSpPr/>
          <p:nvPr/>
        </p:nvCxnSpPr>
        <p:spPr>
          <a:xfrm>
            <a:off x="5630333" y="3109125"/>
            <a:ext cx="465667" cy="19878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77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67A77C3-6CA0-2B20-C413-F58FC221B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07" y="802640"/>
            <a:ext cx="4749513" cy="452120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91BBFC61-DA79-66B0-E34B-1D2ED5F28DAF}"/>
              </a:ext>
            </a:extLst>
          </p:cNvPr>
          <p:cNvSpPr txBox="1"/>
          <p:nvPr/>
        </p:nvSpPr>
        <p:spPr>
          <a:xfrm>
            <a:off x="5745193" y="14390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 projede CI/CD süreci </a:t>
            </a:r>
            <a:r>
              <a:rPr lang="tr-TR" dirty="0" err="1">
                <a:latin typeface="Courier New" panose="02070309020205020404" pitchFamily="49" charset="0"/>
              </a:rPr>
              <a:t>azure-pipelines.yml</a:t>
            </a:r>
            <a:r>
              <a:rPr lang="tr-TR" dirty="0"/>
              <a:t> dosyası üzerinden tanımlanmıştır. </a:t>
            </a:r>
            <a:r>
              <a:rPr lang="tr-TR" dirty="0" err="1"/>
              <a:t>Pipeline</a:t>
            </a:r>
            <a:r>
              <a:rPr lang="tr-TR" dirty="0"/>
              <a:t>, main </a:t>
            </a:r>
            <a:r>
              <a:rPr lang="tr-TR" dirty="0" err="1"/>
              <a:t>branch</a:t>
            </a:r>
            <a:r>
              <a:rPr lang="tr-TR" dirty="0"/>
              <a:t> üzerine yapılan değişikliklerde otomatik olarak tetiklenecek şekilde yapılandırılmıştır. YAML dosyasında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 adı,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Hub</a:t>
            </a:r>
            <a:r>
              <a:rPr lang="tr-TR" dirty="0"/>
              <a:t> bağlantısı ve </a:t>
            </a:r>
            <a:r>
              <a:rPr lang="tr-TR" dirty="0" err="1"/>
              <a:t>Kubernetes</a:t>
            </a:r>
            <a:r>
              <a:rPr lang="tr-TR" dirty="0"/>
              <a:t> </a:t>
            </a:r>
            <a:r>
              <a:rPr lang="tr-TR" dirty="0" err="1"/>
              <a:t>namespace</a:t>
            </a:r>
            <a:r>
              <a:rPr lang="tr-TR" dirty="0"/>
              <a:t> gibi değerler </a:t>
            </a:r>
            <a:r>
              <a:rPr lang="tr-TR" b="1" dirty="0"/>
              <a:t>değişkenler</a:t>
            </a:r>
            <a:r>
              <a:rPr lang="tr-TR" dirty="0"/>
              <a:t> üzerinden yönetilmiştir. Ayrıca </a:t>
            </a:r>
            <a:r>
              <a:rPr lang="tr-TR" dirty="0" err="1"/>
              <a:t>pipeline’ın</a:t>
            </a:r>
            <a:r>
              <a:rPr lang="tr-TR" dirty="0"/>
              <a:t> yalnızca Self-</a:t>
            </a:r>
            <a:r>
              <a:rPr lang="tr-TR" dirty="0" err="1"/>
              <a:t>Hosted</a:t>
            </a:r>
            <a:r>
              <a:rPr lang="tr-TR" dirty="0"/>
              <a:t> Agent (HUAWEI-PC) üzerinde çalışması sağlanarak </a:t>
            </a:r>
            <a:r>
              <a:rPr lang="tr-TR" dirty="0" err="1"/>
              <a:t>Docker</a:t>
            </a:r>
            <a:r>
              <a:rPr lang="tr-TR" dirty="0"/>
              <a:t> ve </a:t>
            </a:r>
            <a:r>
              <a:rPr lang="tr-TR" dirty="0" err="1"/>
              <a:t>Kubernetes</a:t>
            </a:r>
            <a:r>
              <a:rPr lang="tr-TR" dirty="0"/>
              <a:t> işlemlerinin doğru ortamda yapılması garanti altına alınmıştır.</a:t>
            </a:r>
          </a:p>
        </p:txBody>
      </p:sp>
    </p:spTree>
    <p:extLst>
      <p:ext uri="{BB962C8B-B14F-4D97-AF65-F5344CB8AC3E}">
        <p14:creationId xmlns:p14="http://schemas.microsoft.com/office/powerpoint/2010/main" val="747089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D00AB97B-5F90-32B6-D6E0-463A5EE4120C}"/>
              </a:ext>
            </a:extLst>
          </p:cNvPr>
          <p:cNvSpPr txBox="1"/>
          <p:nvPr/>
        </p:nvSpPr>
        <p:spPr>
          <a:xfrm>
            <a:off x="284193" y="202906"/>
            <a:ext cx="829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/>
              <a:t>9)Oluşan </a:t>
            </a:r>
            <a:r>
              <a:rPr lang="tr-TR" sz="2800" dirty="0" err="1"/>
              <a:t>Docker</a:t>
            </a:r>
            <a:r>
              <a:rPr lang="tr-TR" sz="2800" dirty="0"/>
              <a:t> </a:t>
            </a:r>
            <a:r>
              <a:rPr lang="tr-TR" sz="2800" dirty="0" err="1"/>
              <a:t>İmage,DockerHub</a:t>
            </a:r>
            <a:r>
              <a:rPr lang="tr-TR" sz="2800" dirty="0"/>
              <a:t> yollama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B7E96E0-F404-ABF1-035A-EC8A1BE7AE99}"/>
              </a:ext>
            </a:extLst>
          </p:cNvPr>
          <p:cNvSpPr txBox="1"/>
          <p:nvPr/>
        </p:nvSpPr>
        <p:spPr>
          <a:xfrm>
            <a:off x="5816599" y="3802093"/>
            <a:ext cx="59266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, </a:t>
            </a:r>
            <a:r>
              <a:rPr lang="tr-TR" dirty="0" err="1"/>
              <a:t>pipeline</a:t>
            </a:r>
            <a:r>
              <a:rPr lang="tr-TR" dirty="0"/>
              <a:t> sırasında </a:t>
            </a:r>
            <a:r>
              <a:rPr lang="tr-TR" dirty="0" err="1"/>
              <a:t>Dockerfile</a:t>
            </a:r>
            <a:r>
              <a:rPr lang="tr-TR" dirty="0"/>
              <a:t> kullanılarak oluşturulmuş ve merkezi bir </a:t>
            </a:r>
            <a:r>
              <a:rPr lang="tr-TR" dirty="0" err="1"/>
              <a:t>registry</a:t>
            </a:r>
            <a:r>
              <a:rPr lang="tr-TR" dirty="0"/>
              <a:t> olması nedeniyle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Hub’a</a:t>
            </a:r>
            <a:r>
              <a:rPr lang="tr-TR" dirty="0"/>
              <a:t> gönderilmiştir. Bu sayede </a:t>
            </a:r>
            <a:r>
              <a:rPr lang="tr-TR" dirty="0" err="1"/>
              <a:t>Kubernetes</a:t>
            </a:r>
            <a:r>
              <a:rPr lang="tr-TR" dirty="0"/>
              <a:t> ortamı </a:t>
            </a:r>
            <a:r>
              <a:rPr lang="tr-TR" dirty="0" err="1"/>
              <a:t>image’ı</a:t>
            </a:r>
            <a:r>
              <a:rPr lang="tr-TR" dirty="0"/>
              <a:t> doğrudan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Hub</a:t>
            </a:r>
            <a:r>
              <a:rPr lang="tr-TR" dirty="0"/>
              <a:t> üzerinden çekebilmiştir.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A44BEF8C-F98F-EF87-F250-3C3DE4F8D075}"/>
              </a:ext>
            </a:extLst>
          </p:cNvPr>
          <p:cNvSpPr txBox="1"/>
          <p:nvPr/>
        </p:nvSpPr>
        <p:spPr>
          <a:xfrm>
            <a:off x="5816598" y="1663945"/>
            <a:ext cx="59266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DockerImage’ı</a:t>
            </a:r>
            <a:r>
              <a:rPr lang="tr-TR" dirty="0"/>
              <a:t> oluşturmadan önce </a:t>
            </a:r>
            <a:r>
              <a:rPr lang="tr-TR" dirty="0" err="1"/>
              <a:t>DockerHub’a</a:t>
            </a:r>
            <a:r>
              <a:rPr lang="tr-TR" dirty="0"/>
              <a:t> bir giriş kaydı oluşturmamız </a:t>
            </a:r>
            <a:r>
              <a:rPr lang="tr-TR" dirty="0" err="1"/>
              <a:t>lazım.Bu</a:t>
            </a:r>
            <a:r>
              <a:rPr lang="tr-TR" dirty="0"/>
              <a:t> işlem </a:t>
            </a:r>
            <a:r>
              <a:rPr lang="tr-TR" dirty="0" err="1"/>
              <a:t>Organization</a:t>
            </a:r>
            <a:r>
              <a:rPr lang="tr-TR" dirty="0"/>
              <a:t> </a:t>
            </a:r>
            <a:r>
              <a:rPr lang="tr-TR" dirty="0" err="1"/>
              <a:t>Setting</a:t>
            </a:r>
            <a:r>
              <a:rPr lang="tr-TR" dirty="0"/>
              <a:t> kısmında Servis </a:t>
            </a:r>
            <a:r>
              <a:rPr lang="tr-TR" dirty="0" err="1"/>
              <a:t>Connection’da</a:t>
            </a:r>
            <a:r>
              <a:rPr lang="tr-TR" dirty="0"/>
              <a:t> gerçekleştirilir.</a:t>
            </a:r>
          </a:p>
        </p:txBody>
      </p:sp>
      <p:pic>
        <p:nvPicPr>
          <p:cNvPr id="12" name="Resim 11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61DA2DD-FDE7-1D92-FB71-49F2B487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4" y="1405467"/>
            <a:ext cx="5291667" cy="372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79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94A2543-AC65-3055-BEDE-D8D8C991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3" y="3115734"/>
            <a:ext cx="5901267" cy="3652528"/>
          </a:xfrm>
          <a:prstGeom prst="rect">
            <a:avLst/>
          </a:prstGeom>
        </p:spPr>
      </p:pic>
      <p:pic>
        <p:nvPicPr>
          <p:cNvPr id="7" name="Resim 6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6CD182B-67A2-74E2-75BB-BF7A023E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44" y="342024"/>
            <a:ext cx="5772956" cy="1933845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52F01344-FF65-085F-090D-665331B1380B}"/>
              </a:ext>
            </a:extLst>
          </p:cNvPr>
          <p:cNvSpPr txBox="1"/>
          <p:nvPr/>
        </p:nvSpPr>
        <p:spPr>
          <a:xfrm>
            <a:off x="6590453" y="2192404"/>
            <a:ext cx="56015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Pipline</a:t>
            </a:r>
            <a:r>
              <a:rPr lang="tr-TR" dirty="0"/>
              <a:t> sayesinde oluşan </a:t>
            </a:r>
            <a:r>
              <a:rPr lang="tr-TR" dirty="0" err="1"/>
              <a:t>DockerImage,pipline</a:t>
            </a:r>
            <a:r>
              <a:rPr lang="tr-TR" dirty="0"/>
              <a:t> bulunan bu bölüm sayesinde Servis Connection oluşturduğumuz bilgilerle </a:t>
            </a:r>
            <a:r>
              <a:rPr lang="tr-TR" dirty="0" err="1"/>
              <a:t>DockerHub’a</a:t>
            </a:r>
            <a:r>
              <a:rPr lang="tr-TR" dirty="0"/>
              <a:t> yollanır.</a:t>
            </a:r>
          </a:p>
          <a:p>
            <a:r>
              <a:rPr lang="tr-TR" dirty="0"/>
              <a:t>Oluşan </a:t>
            </a:r>
            <a:r>
              <a:rPr lang="tr-TR" dirty="0" err="1"/>
              <a:t>DockerImage,DockerFile’daki</a:t>
            </a:r>
            <a:r>
              <a:rPr lang="tr-TR" dirty="0"/>
              <a:t> özelliklere göre </a:t>
            </a:r>
            <a:r>
              <a:rPr lang="tr-TR" dirty="0" err="1"/>
              <a:t>container</a:t>
            </a:r>
            <a:r>
              <a:rPr lang="tr-TR" dirty="0"/>
              <a:t> haline getirilir.</a:t>
            </a:r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09FD88E2-CE22-4314-72E3-02BA5FD9A131}"/>
              </a:ext>
            </a:extLst>
          </p:cNvPr>
          <p:cNvCxnSpPr/>
          <p:nvPr/>
        </p:nvCxnSpPr>
        <p:spPr>
          <a:xfrm flipH="1" flipV="1">
            <a:off x="3871343" y="1658389"/>
            <a:ext cx="2550160" cy="995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4E604BDC-235F-717A-35A7-BCC937100BD9}"/>
              </a:ext>
            </a:extLst>
          </p:cNvPr>
          <p:cNvCxnSpPr/>
          <p:nvPr/>
        </p:nvCxnSpPr>
        <p:spPr>
          <a:xfrm flipH="1">
            <a:off x="2438400" y="1608667"/>
            <a:ext cx="592667" cy="241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A26FE84A-F3D2-4963-B3C7-B73A76D6C986}"/>
              </a:ext>
            </a:extLst>
          </p:cNvPr>
          <p:cNvCxnSpPr/>
          <p:nvPr/>
        </p:nvCxnSpPr>
        <p:spPr>
          <a:xfrm flipH="1" flipV="1">
            <a:off x="3896743" y="1658389"/>
            <a:ext cx="2550160" cy="9956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217361C1-B08C-9AFD-4986-D777BAB57967}"/>
              </a:ext>
            </a:extLst>
          </p:cNvPr>
          <p:cNvCxnSpPr/>
          <p:nvPr/>
        </p:nvCxnSpPr>
        <p:spPr>
          <a:xfrm flipH="1">
            <a:off x="2463800" y="1608667"/>
            <a:ext cx="592667" cy="2413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184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2B3F9B45-1300-E9D6-1A36-FD710D39C540}"/>
              </a:ext>
            </a:extLst>
          </p:cNvPr>
          <p:cNvSpPr txBox="1"/>
          <p:nvPr/>
        </p:nvSpPr>
        <p:spPr>
          <a:xfrm>
            <a:off x="121920" y="92671"/>
            <a:ext cx="5601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 err="1"/>
              <a:t>Deployment.yml</a:t>
            </a:r>
            <a:r>
              <a:rPr lang="tr-TR" sz="2800" dirty="0"/>
              <a:t> ve </a:t>
            </a:r>
            <a:r>
              <a:rPr lang="tr-TR" sz="2800" dirty="0" err="1"/>
              <a:t>Service.yml</a:t>
            </a:r>
            <a:r>
              <a:rPr lang="tr-TR" sz="2800" dirty="0"/>
              <a:t> </a:t>
            </a:r>
          </a:p>
        </p:txBody>
      </p:sp>
      <p:pic>
        <p:nvPicPr>
          <p:cNvPr id="6" name="Resim 5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84D03C2-95E6-6B40-FCD7-0FBC57EAF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06" y="1075986"/>
            <a:ext cx="2515487" cy="2725547"/>
          </a:xfrm>
          <a:prstGeom prst="rect">
            <a:avLst/>
          </a:prstGeom>
        </p:spPr>
      </p:pic>
      <p:pic>
        <p:nvPicPr>
          <p:cNvPr id="8" name="Resim 7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3784CBA-C1D1-77ED-D940-0D40D3BF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1" y="3801533"/>
            <a:ext cx="2662438" cy="2725547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54C954D8-CF68-60D0-CAB2-A46984EE5D05}"/>
              </a:ext>
            </a:extLst>
          </p:cNvPr>
          <p:cNvSpPr txBox="1"/>
          <p:nvPr/>
        </p:nvSpPr>
        <p:spPr>
          <a:xfrm>
            <a:off x="4538134" y="115180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Deployment YAML, uygulamanın </a:t>
            </a:r>
            <a:r>
              <a:rPr lang="tr-TR" dirty="0" err="1"/>
              <a:t>Kubernetes</a:t>
            </a:r>
            <a:r>
              <a:rPr lang="tr-TR" dirty="0"/>
              <a:t> üzerinde nasıl çalıştırılacağını tanımladığım yapılandırma dosyasıdır. Bu dosya ile </a:t>
            </a:r>
            <a:r>
              <a:rPr lang="tr-TR" dirty="0" err="1"/>
              <a:t>Docker</a:t>
            </a:r>
            <a:r>
              <a:rPr lang="tr-TR" dirty="0"/>
              <a:t> </a:t>
            </a:r>
            <a:r>
              <a:rPr lang="tr-TR" dirty="0" err="1"/>
              <a:t>Hub’daki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 kullanılarak </a:t>
            </a:r>
            <a:r>
              <a:rPr lang="tr-TR" dirty="0" err="1"/>
              <a:t>pod’ların</a:t>
            </a:r>
            <a:r>
              <a:rPr lang="tr-TR" dirty="0"/>
              <a:t> oluşturulması ve çalışır durumda tutulması sağlanır. Ayrıca uygulamanın kopya sayısı ve güncellenme davranışı bu dosya üzerinden yönetilir.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C2A7F6D1-BB6B-C829-F81F-99D5546D1E12}"/>
              </a:ext>
            </a:extLst>
          </p:cNvPr>
          <p:cNvSpPr txBox="1"/>
          <p:nvPr/>
        </p:nvSpPr>
        <p:spPr>
          <a:xfrm>
            <a:off x="1664949" y="426198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dirty="0"/>
              <a:t>Service YAML, </a:t>
            </a:r>
            <a:r>
              <a:rPr lang="tr-TR" dirty="0" err="1"/>
              <a:t>Kubernetes</a:t>
            </a:r>
            <a:r>
              <a:rPr lang="tr-TR" dirty="0"/>
              <a:t> üzerinde çalışan </a:t>
            </a:r>
            <a:r>
              <a:rPr lang="tr-TR" dirty="0" err="1"/>
              <a:t>pod’lara</a:t>
            </a:r>
            <a:r>
              <a:rPr lang="tr-TR" dirty="0"/>
              <a:t> dışarıdan veya </a:t>
            </a:r>
            <a:r>
              <a:rPr lang="tr-TR" dirty="0" err="1"/>
              <a:t>cluster</a:t>
            </a:r>
            <a:r>
              <a:rPr lang="tr-TR" dirty="0"/>
              <a:t> içinden erişim sağlamak için kullanılır. Bu dosya sayesinde uygulama, </a:t>
            </a:r>
            <a:r>
              <a:rPr lang="tr-TR" dirty="0" err="1"/>
              <a:t>pod</a:t>
            </a:r>
            <a:r>
              <a:rPr lang="tr-TR" dirty="0"/>
              <a:t> IP’lerinden bağımsız olarak tek bir sabit adres üzerinden erişilebilir hale gelir. Projemde Service kullanarak uygulamayı tarayıcıdan erişilebilir duruma getirdim.</a:t>
            </a:r>
          </a:p>
        </p:txBody>
      </p:sp>
    </p:spTree>
    <p:extLst>
      <p:ext uri="{BB962C8B-B14F-4D97-AF65-F5344CB8AC3E}">
        <p14:creationId xmlns:p14="http://schemas.microsoft.com/office/powerpoint/2010/main" val="206546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89E1A0-2922-0621-C721-EAA5E8FD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04723" cy="724149"/>
          </a:xfrm>
        </p:spPr>
        <p:txBody>
          <a:bodyPr/>
          <a:lstStyle/>
          <a:p>
            <a:r>
              <a:rPr lang="tr-TR" sz="2400" dirty="0"/>
              <a:t>10)</a:t>
            </a:r>
            <a:r>
              <a:rPr lang="tr-TR" sz="2400" dirty="0" err="1"/>
              <a:t>Kubernates</a:t>
            </a:r>
            <a:r>
              <a:rPr lang="tr-TR" sz="2400" dirty="0"/>
              <a:t> Cluster Oluşturma Ve Servisi Ayağa Kaldırma</a:t>
            </a:r>
          </a:p>
        </p:txBody>
      </p:sp>
      <p:pic>
        <p:nvPicPr>
          <p:cNvPr id="5" name="Resim 4" descr="ekran görüntüsü, metin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B024690-C921-F5CE-F7B6-1E43A8995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67" y="1601540"/>
            <a:ext cx="4732866" cy="3654920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EA87EE90-50F5-F3A8-2F5F-58FD1B98E24D}"/>
              </a:ext>
            </a:extLst>
          </p:cNvPr>
          <p:cNvSpPr txBox="1"/>
          <p:nvPr/>
        </p:nvSpPr>
        <p:spPr>
          <a:xfrm>
            <a:off x="5695950" y="1519535"/>
            <a:ext cx="61425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Docker</a:t>
            </a:r>
            <a:r>
              <a:rPr lang="tr-TR" dirty="0"/>
              <a:t> Desktop açılır ve sol menüden </a:t>
            </a:r>
            <a:r>
              <a:rPr lang="tr-TR" dirty="0" err="1"/>
              <a:t>Kubernetes</a:t>
            </a:r>
            <a:r>
              <a:rPr lang="tr-TR" dirty="0"/>
              <a:t> sekmesine girilir. Bu bölüm, </a:t>
            </a:r>
            <a:r>
              <a:rPr lang="tr-TR" dirty="0" err="1"/>
              <a:t>local</a:t>
            </a:r>
            <a:r>
              <a:rPr lang="tr-TR" dirty="0"/>
              <a:t> </a:t>
            </a:r>
            <a:r>
              <a:rPr lang="tr-TR" dirty="0" err="1"/>
              <a:t>Kubernetes</a:t>
            </a:r>
            <a:r>
              <a:rPr lang="tr-TR" dirty="0"/>
              <a:t> </a:t>
            </a:r>
            <a:r>
              <a:rPr lang="tr-TR" dirty="0" err="1"/>
              <a:t>cluster’ının</a:t>
            </a:r>
            <a:r>
              <a:rPr lang="tr-TR" dirty="0"/>
              <a:t> yönetildiği alandır.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ADFE3312-1855-0C6A-4908-C39575705E82}"/>
              </a:ext>
            </a:extLst>
          </p:cNvPr>
          <p:cNvSpPr txBox="1"/>
          <p:nvPr/>
        </p:nvSpPr>
        <p:spPr>
          <a:xfrm>
            <a:off x="5695950" y="2782669"/>
            <a:ext cx="6142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Kubernetes</a:t>
            </a:r>
            <a:r>
              <a:rPr lang="tr-TR" dirty="0"/>
              <a:t> ekranında </a:t>
            </a:r>
            <a:r>
              <a:rPr lang="tr-TR" dirty="0" err="1"/>
              <a:t>Edit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butonuna tıklanır. Bu adımda </a:t>
            </a:r>
            <a:r>
              <a:rPr lang="tr-TR" dirty="0" err="1"/>
              <a:t>cluster</a:t>
            </a:r>
            <a:r>
              <a:rPr lang="tr-TR" dirty="0"/>
              <a:t> tipi ve sürümü belirlenir.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C5B7912B-98E7-E8C5-01BC-37BD10E4EE0C}"/>
              </a:ext>
            </a:extLst>
          </p:cNvPr>
          <p:cNvSpPr txBox="1"/>
          <p:nvPr/>
        </p:nvSpPr>
        <p:spPr>
          <a:xfrm>
            <a:off x="5673911" y="4084935"/>
            <a:ext cx="61425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Cluster </a:t>
            </a:r>
            <a:r>
              <a:rPr lang="tr-TR" dirty="0" err="1"/>
              <a:t>Type</a:t>
            </a:r>
            <a:r>
              <a:rPr lang="tr-TR" dirty="0"/>
              <a:t> olarak </a:t>
            </a:r>
            <a:r>
              <a:rPr lang="tr-TR" dirty="0" err="1"/>
              <a:t>Kubeadm</a:t>
            </a:r>
            <a:r>
              <a:rPr lang="tr-TR" dirty="0"/>
              <a:t> seçilir.</a:t>
            </a:r>
            <a:br>
              <a:rPr lang="tr-TR" dirty="0"/>
            </a:br>
            <a:r>
              <a:rPr lang="tr-TR" dirty="0"/>
              <a:t>Bu seçenek, tek </a:t>
            </a:r>
            <a:r>
              <a:rPr lang="tr-TR" dirty="0" err="1"/>
              <a:t>node’lu</a:t>
            </a:r>
            <a:r>
              <a:rPr lang="tr-TR" dirty="0"/>
              <a:t> ve </a:t>
            </a:r>
            <a:r>
              <a:rPr lang="tr-TR" dirty="0" err="1"/>
              <a:t>local</a:t>
            </a:r>
            <a:r>
              <a:rPr lang="tr-TR" dirty="0"/>
              <a:t> geliştirme ortamları için uygun bir </a:t>
            </a:r>
            <a:r>
              <a:rPr lang="tr-TR" dirty="0" err="1"/>
              <a:t>Kubernetes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oluşturur.</a:t>
            </a:r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7E99E80F-B982-CE0E-B244-33D032E9CB39}"/>
              </a:ext>
            </a:extLst>
          </p:cNvPr>
          <p:cNvCxnSpPr/>
          <p:nvPr/>
        </p:nvCxnSpPr>
        <p:spPr>
          <a:xfrm flipH="1">
            <a:off x="1032933" y="1718733"/>
            <a:ext cx="4640978" cy="584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Düz Ok Bağlayıcısı 18">
            <a:extLst>
              <a:ext uri="{FF2B5EF4-FFF2-40B4-BE49-F238E27FC236}">
                <a16:creationId xmlns:a16="http://schemas.microsoft.com/office/drawing/2014/main" id="{C7610F64-1972-97A0-D44B-AA0FE29021FE}"/>
              </a:ext>
            </a:extLst>
          </p:cNvPr>
          <p:cNvCxnSpPr/>
          <p:nvPr/>
        </p:nvCxnSpPr>
        <p:spPr>
          <a:xfrm flipH="1" flipV="1">
            <a:off x="4817533" y="2540000"/>
            <a:ext cx="856378" cy="406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27474599-8E27-C3ED-43FD-101A0824682D}"/>
              </a:ext>
            </a:extLst>
          </p:cNvPr>
          <p:cNvCxnSpPr/>
          <p:nvPr/>
        </p:nvCxnSpPr>
        <p:spPr>
          <a:xfrm flipH="1" flipV="1">
            <a:off x="2362200" y="3242733"/>
            <a:ext cx="3311711" cy="11006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597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E51B7FB-125F-F2D0-6CAC-B1147B7C6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933" y="1597218"/>
            <a:ext cx="8737600" cy="1831782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56BAEC06-539C-B84F-9D2B-4B253F36A6F0}"/>
              </a:ext>
            </a:extLst>
          </p:cNvPr>
          <p:cNvSpPr txBox="1"/>
          <p:nvPr/>
        </p:nvSpPr>
        <p:spPr>
          <a:xfrm>
            <a:off x="533400" y="1195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Kubernetes</a:t>
            </a:r>
            <a:r>
              <a:rPr lang="tr-TR" dirty="0"/>
              <a:t> </a:t>
            </a:r>
            <a:r>
              <a:rPr lang="tr-TR" dirty="0" err="1"/>
              <a:t>cluster</a:t>
            </a:r>
            <a:r>
              <a:rPr lang="tr-TR" dirty="0"/>
              <a:t> bilgisinin aktif olduğu ve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plane’in</a:t>
            </a:r>
            <a:r>
              <a:rPr lang="tr-TR" dirty="0"/>
              <a:t> çalıştığı görülmektedir. Ayrıca </a:t>
            </a:r>
            <a:r>
              <a:rPr lang="tr-TR" dirty="0" err="1">
                <a:latin typeface="Courier New" panose="02070309020205020404" pitchFamily="49" charset="0"/>
              </a:rPr>
              <a:t>docker</a:t>
            </a:r>
            <a:r>
              <a:rPr lang="tr-TR" dirty="0">
                <a:latin typeface="Courier New" panose="02070309020205020404" pitchFamily="49" charset="0"/>
              </a:rPr>
              <a:t>-desktop</a:t>
            </a:r>
            <a:r>
              <a:rPr lang="tr-TR" dirty="0"/>
              <a:t> </a:t>
            </a:r>
            <a:r>
              <a:rPr lang="tr-TR" dirty="0" err="1"/>
              <a:t>node’unun</a:t>
            </a:r>
            <a:r>
              <a:rPr lang="tr-TR" dirty="0"/>
              <a:t>  </a:t>
            </a:r>
            <a:r>
              <a:rPr lang="tr-TR" dirty="0" err="1"/>
              <a:t>ready</a:t>
            </a:r>
            <a:r>
              <a:rPr lang="tr-TR" dirty="0"/>
              <a:t> durumda olması, </a:t>
            </a:r>
            <a:r>
              <a:rPr lang="tr-TR" dirty="0" err="1"/>
              <a:t>cluster’ın</a:t>
            </a:r>
            <a:r>
              <a:rPr lang="tr-TR" dirty="0"/>
              <a:t> kullanıma hazır olduğunu göstermektedir.</a:t>
            </a:r>
          </a:p>
        </p:txBody>
      </p:sp>
      <p:cxnSp>
        <p:nvCxnSpPr>
          <p:cNvPr id="11" name="Düz Ok Bağlayıcısı 10">
            <a:extLst>
              <a:ext uri="{FF2B5EF4-FFF2-40B4-BE49-F238E27FC236}">
                <a16:creationId xmlns:a16="http://schemas.microsoft.com/office/drawing/2014/main" id="{A58A7357-3292-EACB-8618-890899EEEDB4}"/>
              </a:ext>
            </a:extLst>
          </p:cNvPr>
          <p:cNvCxnSpPr>
            <a:cxnSpLocks/>
          </p:cNvCxnSpPr>
          <p:nvPr/>
        </p:nvCxnSpPr>
        <p:spPr>
          <a:xfrm>
            <a:off x="1371600" y="1319831"/>
            <a:ext cx="1947333" cy="991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Resim 13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AF86059-C48B-60D1-0151-E808F35A6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933" y="5028232"/>
            <a:ext cx="8737600" cy="1710266"/>
          </a:xfrm>
          <a:prstGeom prst="rect">
            <a:avLst/>
          </a:prstGeom>
        </p:spPr>
      </p:pic>
      <p:sp>
        <p:nvSpPr>
          <p:cNvPr id="16" name="Metin kutusu 15">
            <a:extLst>
              <a:ext uri="{FF2B5EF4-FFF2-40B4-BE49-F238E27FC236}">
                <a16:creationId xmlns:a16="http://schemas.microsoft.com/office/drawing/2014/main" id="{23F79B46-3587-6B92-B44B-9624A0A58C79}"/>
              </a:ext>
            </a:extLst>
          </p:cNvPr>
          <p:cNvSpPr txBox="1"/>
          <p:nvPr/>
        </p:nvSpPr>
        <p:spPr>
          <a:xfrm>
            <a:off x="431800" y="370638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aktif </a:t>
            </a:r>
            <a:r>
              <a:rPr lang="tr-TR" dirty="0" err="1"/>
              <a:t>Kubernetes</a:t>
            </a:r>
            <a:r>
              <a:rPr lang="tr-TR" dirty="0"/>
              <a:t> </a:t>
            </a:r>
            <a:r>
              <a:rPr lang="tr-TR" dirty="0" err="1"/>
              <a:t>context’inin</a:t>
            </a:r>
            <a:r>
              <a:rPr lang="tr-TR" dirty="0"/>
              <a:t> </a:t>
            </a:r>
            <a:r>
              <a:rPr lang="tr-TR" dirty="0" err="1"/>
              <a:t>docker</a:t>
            </a:r>
            <a:r>
              <a:rPr lang="tr-TR" dirty="0"/>
              <a:t>-desktop olduğu doğrulanmıştır. Ayrıca </a:t>
            </a:r>
            <a:r>
              <a:rPr lang="tr-TR" dirty="0" err="1"/>
              <a:t>mth</a:t>
            </a:r>
            <a:r>
              <a:rPr lang="tr-TR" dirty="0"/>
              <a:t> </a:t>
            </a:r>
            <a:r>
              <a:rPr lang="tr-TR" dirty="0" err="1"/>
              <a:t>namespace’i</a:t>
            </a:r>
            <a:r>
              <a:rPr lang="tr-TR" dirty="0"/>
              <a:t> altında </a:t>
            </a:r>
            <a:r>
              <a:rPr lang="tr-TR" dirty="0" err="1"/>
              <a:t>mth-aspnetapp</a:t>
            </a:r>
            <a:r>
              <a:rPr lang="tr-TR" dirty="0"/>
              <a:t> </a:t>
            </a:r>
            <a:r>
              <a:rPr lang="tr-TR" dirty="0" err="1"/>
              <a:t>deployment’ının</a:t>
            </a:r>
            <a:r>
              <a:rPr lang="tr-TR" dirty="0"/>
              <a:t> çalışır durumda olduğu görülmektedir.</a:t>
            </a:r>
          </a:p>
        </p:txBody>
      </p:sp>
      <p:cxnSp>
        <p:nvCxnSpPr>
          <p:cNvPr id="17" name="Düz Ok Bağlayıcısı 16">
            <a:extLst>
              <a:ext uri="{FF2B5EF4-FFF2-40B4-BE49-F238E27FC236}">
                <a16:creationId xmlns:a16="http://schemas.microsoft.com/office/drawing/2014/main" id="{AB725097-1227-A3E4-3568-AA8561AEAD7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624667" y="4697956"/>
            <a:ext cx="694266" cy="11854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913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6C3B9A6-FE10-1FF5-E831-BDB7344AC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87" y="2866400"/>
            <a:ext cx="8306959" cy="136226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D2219412-0453-0C20-9C0B-C2183A605770}"/>
              </a:ext>
            </a:extLst>
          </p:cNvPr>
          <p:cNvSpPr txBox="1"/>
          <p:nvPr/>
        </p:nvSpPr>
        <p:spPr>
          <a:xfrm>
            <a:off x="2243667" y="88150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mevcut </a:t>
            </a:r>
            <a:r>
              <a:rPr lang="tr-TR" dirty="0" err="1"/>
              <a:t>Kubernetes</a:t>
            </a:r>
            <a:r>
              <a:rPr lang="tr-TR" dirty="0"/>
              <a:t> </a:t>
            </a:r>
            <a:r>
              <a:rPr lang="tr-TR" dirty="0" err="1"/>
              <a:t>context’leri</a:t>
            </a:r>
            <a:r>
              <a:rPr lang="tr-TR" dirty="0"/>
              <a:t> listelenmiş ve aktif </a:t>
            </a:r>
            <a:r>
              <a:rPr lang="tr-TR" dirty="0" err="1"/>
              <a:t>context’in</a:t>
            </a:r>
            <a:r>
              <a:rPr lang="tr-TR" dirty="0"/>
              <a:t> </a:t>
            </a:r>
            <a:r>
              <a:rPr lang="tr-TR" dirty="0" err="1"/>
              <a:t>docker</a:t>
            </a:r>
            <a:r>
              <a:rPr lang="tr-TR" dirty="0"/>
              <a:t>-desktop olduğu teyit edilmiştir. Bu sayede komutların doğru </a:t>
            </a:r>
            <a:r>
              <a:rPr lang="tr-TR" dirty="0" err="1"/>
              <a:t>cluster</a:t>
            </a:r>
            <a:r>
              <a:rPr lang="tr-TR" dirty="0"/>
              <a:t> üzerinde çalıştığı garanti altına alınmıştır.</a:t>
            </a:r>
          </a:p>
        </p:txBody>
      </p:sp>
    </p:spTree>
    <p:extLst>
      <p:ext uri="{BB962C8B-B14F-4D97-AF65-F5344CB8AC3E}">
        <p14:creationId xmlns:p14="http://schemas.microsoft.com/office/powerpoint/2010/main" val="2512536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A825CEEB-AF81-9EE5-8FAA-41589D65079F}"/>
              </a:ext>
            </a:extLst>
          </p:cNvPr>
          <p:cNvSpPr txBox="1"/>
          <p:nvPr/>
        </p:nvSpPr>
        <p:spPr>
          <a:xfrm>
            <a:off x="2413000" y="-7523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dirty="0"/>
              <a:t>İSTENEN EKRAN GORUNTULERİ</a:t>
            </a:r>
          </a:p>
        </p:txBody>
      </p:sp>
      <p:pic>
        <p:nvPicPr>
          <p:cNvPr id="6" name="Resim 5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8A69DC9-5355-A7A5-9CD7-5CE16FD69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8957"/>
            <a:ext cx="5059679" cy="5056084"/>
          </a:xfrm>
          <a:prstGeom prst="rect">
            <a:avLst/>
          </a:prstGeom>
        </p:spPr>
      </p:pic>
      <p:pic>
        <p:nvPicPr>
          <p:cNvPr id="8" name="Resim 7" descr="metin, bilgisayar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C0DBF30-62E4-8335-168F-556A4D787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678" y="978957"/>
            <a:ext cx="7132321" cy="505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92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96EF2E6C-B06F-70D1-AB10-F8BF5E3865BF}"/>
              </a:ext>
            </a:extLst>
          </p:cNvPr>
          <p:cNvSpPr txBox="1"/>
          <p:nvPr/>
        </p:nvSpPr>
        <p:spPr>
          <a:xfrm>
            <a:off x="244348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dirty="0"/>
              <a:t>İSTENEN EKRAN GORUNTULERİ</a:t>
            </a:r>
          </a:p>
        </p:txBody>
      </p:sp>
      <p:pic>
        <p:nvPicPr>
          <p:cNvPr id="6" name="Resim 5" descr="metin, ekran görüntüsü, yazılım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FEE0B9A-B2B4-AA2F-D5D4-799C6C22B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373"/>
            <a:ext cx="5740400" cy="5381253"/>
          </a:xfrm>
          <a:prstGeom prst="rect">
            <a:avLst/>
          </a:prstGeom>
        </p:spPr>
      </p:pic>
      <p:pic>
        <p:nvPicPr>
          <p:cNvPr id="8" name="Resim 7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04E0A3C-9796-9960-A01E-90EE8A46D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0" y="738373"/>
            <a:ext cx="6532880" cy="538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25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AB71F3D-A3E0-18A9-44C3-66A4B29F4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926624"/>
            <a:ext cx="9140765" cy="5004752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5434E8BA-FAB5-FB04-B783-85C335DFE7D8}"/>
              </a:ext>
            </a:extLst>
          </p:cNvPr>
          <p:cNvSpPr txBox="1"/>
          <p:nvPr/>
        </p:nvSpPr>
        <p:spPr>
          <a:xfrm>
            <a:off x="244348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dirty="0"/>
              <a:t>İSTENEN EKRAN GORUNTULERİ</a:t>
            </a:r>
          </a:p>
        </p:txBody>
      </p:sp>
    </p:spTree>
    <p:extLst>
      <p:ext uri="{BB962C8B-B14F-4D97-AF65-F5344CB8AC3E}">
        <p14:creationId xmlns:p14="http://schemas.microsoft.com/office/powerpoint/2010/main" val="1020416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337BF1-62FA-B5C5-85D2-C47FBEA4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9"/>
            <a:ext cx="8619809" cy="705522"/>
          </a:xfrm>
        </p:spPr>
        <p:txBody>
          <a:bodyPr/>
          <a:lstStyle/>
          <a:p>
            <a:r>
              <a:rPr lang="tr-TR" sz="2800" dirty="0"/>
              <a:t>Azure repoya bakmak için gerekli izinleri verdim.</a:t>
            </a:r>
          </a:p>
        </p:txBody>
      </p:sp>
      <p:pic>
        <p:nvPicPr>
          <p:cNvPr id="5" name="Resim 4" descr="metin, yazılım, bilgisayar simges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C8DAA86-F10B-CCBC-1777-9500CFF4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0" y="2010596"/>
            <a:ext cx="6634480" cy="2348044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10D19A10-14B4-E66C-8AFC-55AC8281C873}"/>
              </a:ext>
            </a:extLst>
          </p:cNvPr>
          <p:cNvSpPr txBox="1"/>
          <p:nvPr/>
        </p:nvSpPr>
        <p:spPr>
          <a:xfrm>
            <a:off x="646110" y="1343075"/>
            <a:ext cx="9696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https://dev.azure.com/abdullahsaidsonmez04/Mth-Proje-Odevi/_git/MthProjeOdevi</a:t>
            </a:r>
          </a:p>
        </p:txBody>
      </p:sp>
      <p:sp>
        <p:nvSpPr>
          <p:cNvPr id="8" name="Başlık 1">
            <a:extLst>
              <a:ext uri="{FF2B5EF4-FFF2-40B4-BE49-F238E27FC236}">
                <a16:creationId xmlns:a16="http://schemas.microsoft.com/office/drawing/2014/main" id="{633754EF-1F9F-39AE-0A8C-5D7CA1098D6B}"/>
              </a:ext>
            </a:extLst>
          </p:cNvPr>
          <p:cNvSpPr txBox="1">
            <a:spLocks/>
          </p:cNvSpPr>
          <p:nvPr/>
        </p:nvSpPr>
        <p:spPr>
          <a:xfrm>
            <a:off x="737551" y="4809403"/>
            <a:ext cx="10733089" cy="7055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sz="2800" dirty="0"/>
              <a:t>İstenen diğer şartlar(ekran </a:t>
            </a:r>
            <a:r>
              <a:rPr lang="tr-TR" sz="2800" dirty="0" err="1"/>
              <a:t>goruntulerı</a:t>
            </a:r>
            <a:r>
              <a:rPr lang="tr-TR" sz="2800" dirty="0"/>
              <a:t>) dokümantasyonun içinde mevcuttur.</a:t>
            </a:r>
          </a:p>
        </p:txBody>
      </p:sp>
    </p:spTree>
    <p:extLst>
      <p:ext uri="{BB962C8B-B14F-4D97-AF65-F5344CB8AC3E}">
        <p14:creationId xmlns:p14="http://schemas.microsoft.com/office/powerpoint/2010/main" val="2757903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İy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1399</TotalTime>
  <Words>1099</Words>
  <Application>Microsoft Office PowerPoint</Application>
  <PresentationFormat>Geniş ekran</PresentationFormat>
  <Paragraphs>95</Paragraphs>
  <Slides>25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0" baseType="lpstr">
      <vt:lpstr>Arial</vt:lpstr>
      <vt:lpstr>Century Gothic</vt:lpstr>
      <vt:lpstr>Courier New</vt:lpstr>
      <vt:lpstr>Wingdings 3</vt:lpstr>
      <vt:lpstr>İyon</vt:lpstr>
      <vt:lpstr>Mth-Projesi Dokümantasyonu</vt:lpstr>
      <vt:lpstr>LUTFEN OKUYUNUZ!!  PROJEDE ISTENEN REPO LİNKİ VE EKRAN GORUNTULERI SLAYTIN SONUNA DOGRU MEVCUTTUR.</vt:lpstr>
      <vt:lpstr>1)Amaç</vt:lpstr>
      <vt:lpstr>PowerPoint Sunusu</vt:lpstr>
      <vt:lpstr>3)Projenin Genel Adımları</vt:lpstr>
      <vt:lpstr>4)AzureDevops’da Projeyi Oluşturma</vt:lpstr>
      <vt:lpstr>5)Agent Kurulumu</vt:lpstr>
      <vt:lpstr>PowerPoint Sunusu</vt:lpstr>
      <vt:lpstr>PowerPoint Sunusu</vt:lpstr>
      <vt:lpstr>6)VsCode ile AzureRepo Bağlantısı</vt:lpstr>
      <vt:lpstr>Localdeki değişiklikleri Azure repoya yollamak için :  git status ile localdeki ve repodaki farka bakarız  gitt add &lt;Değişiklik ve ekleme yaptığımız dosya adları&gt;,değişiklikleri GİT’e ekler   git commit –m ‘ kaydedildi ’, değişiklikleri bir paket yapar.  git push, Azure repoya yollar  Komudlarını takip ederek repoya yollarız.</vt:lpstr>
      <vt:lpstr>7)Uygulama için DockerFile yazılması</vt:lpstr>
      <vt:lpstr>8)Pipline.yml ve Pipline Oluşturma</vt:lpstr>
      <vt:lpstr>PowerPoint Sunusu</vt:lpstr>
      <vt:lpstr>PowerPoint Sunusu</vt:lpstr>
      <vt:lpstr>PowerPoint Sunusu</vt:lpstr>
      <vt:lpstr>PowerPoint Sunusu</vt:lpstr>
      <vt:lpstr>PowerPoint Sunusu</vt:lpstr>
      <vt:lpstr>10)Kubernates Cluster Oluşturma Ve Servisi Ayağa Kaldırma</vt:lpstr>
      <vt:lpstr>PowerPoint Sunusu</vt:lpstr>
      <vt:lpstr>PowerPoint Sunusu</vt:lpstr>
      <vt:lpstr>PowerPoint Sunusu</vt:lpstr>
      <vt:lpstr>PowerPoint Sunusu</vt:lpstr>
      <vt:lpstr>PowerPoint Sunusu</vt:lpstr>
      <vt:lpstr>Azure repoya bakmak için gerekli izinleri verdim.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Said SÖNMEZ</dc:creator>
  <cp:lastModifiedBy>Abdullah Said SÖNMEZ</cp:lastModifiedBy>
  <cp:revision>19</cp:revision>
  <dcterms:created xsi:type="dcterms:W3CDTF">2026-01-04T08:43:10Z</dcterms:created>
  <dcterms:modified xsi:type="dcterms:W3CDTF">2026-01-06T18:07:28Z</dcterms:modified>
</cp:coreProperties>
</file>